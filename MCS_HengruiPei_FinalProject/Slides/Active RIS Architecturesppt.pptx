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57" r:id="rId5"/>
    <p:sldId id="258" r:id="rId6"/>
    <p:sldId id="259" r:id="rId7"/>
    <p:sldId id="260" r:id="rId8"/>
    <p:sldId id="273" r:id="rId9"/>
    <p:sldId id="261" r:id="rId10"/>
    <p:sldId id="262" r:id="rId11"/>
    <p:sldId id="271" r:id="rId12"/>
    <p:sldId id="272" r:id="rId13"/>
    <p:sldId id="263" r:id="rId14"/>
    <p:sldId id="270" r:id="rId15"/>
    <p:sldId id="264" r:id="rId16"/>
    <p:sldId id="265" r:id="rId17"/>
    <p:sldId id="266" r:id="rId18"/>
    <p:sldId id="267" r:id="rId19"/>
  </p:sldIdLst>
  <p:sldSz cx="12192000" cy="6858000"/>
  <p:notesSz cx="6858000" cy="9144000"/>
  <p:embeddedFontLst>
    <p:embeddedFont>
      <p:font typeface="SimSun" panose="02010600030101010101" pitchFamily="2" charset="-122"/>
      <p:regular r:id="rId24"/>
    </p:embeddedFont>
    <p:embeddedFont>
      <p:font typeface="Calibri" panose="020F0502020204030204"/>
      <p:regular r:id="rId25"/>
      <p:bold r:id="rId26"/>
      <p:italic r:id="rId27"/>
      <p:boldItalic r:id="rId28"/>
    </p:embeddedFont>
    <p:embeddedFont>
      <p:font typeface="Poppins" panose="00000400000000000000"/>
      <p:regular r:id="rId29"/>
      <p:italic r:id="rId30"/>
      <p:boldItalic r:id="rId31"/>
    </p:embeddedFont>
    <p:embeddedFont>
      <p:font typeface="Lato" panose="020F0502020204030203"/>
      <p:regular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11.fntdata"/><Relationship Id="rId33" Type="http://schemas.openxmlformats.org/officeDocument/2006/relationships/font" Target="fonts/font10.fntdata"/><Relationship Id="rId32" Type="http://schemas.openxmlformats.org/officeDocument/2006/relationships/font" Target="fonts/font9.fntdata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" name="Google Shape;133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Dinkelbach Algori transform a multiplication problem into a subtraction problem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beamforming matrix W, the RIS phase shifts Θ, and the amplification coefficients </a:t>
            </a:r>
            <a:endParaRPr lang="en-US"/>
          </a:p>
        </p:txBody>
      </p:sp>
      <p:sp>
        <p:nvSpPr>
          <p:cNvPr id="159" name="Google Shape;159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7" name="Google Shape;177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" name="Google Shape;201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3" name="Google Shape;223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image" Target="../media/image4.png"/><Relationship Id="rId6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tags" Target="../tags/tag2.xml"/><Relationship Id="rId3" Type="http://schemas.openxmlformats.org/officeDocument/2006/relationships/image" Target="../media/image2.png"/><Relationship Id="rId21" Type="http://schemas.openxmlformats.org/officeDocument/2006/relationships/notesSlide" Target="../notesSlides/notesSlide3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9" Type="http://schemas.openxmlformats.org/officeDocument/2006/relationships/image" Target="../media/image7.png"/><Relationship Id="rId18" Type="http://schemas.openxmlformats.org/officeDocument/2006/relationships/tags" Target="../tags/tag12.xml"/><Relationship Id="rId17" Type="http://schemas.openxmlformats.org/officeDocument/2006/relationships/image" Target="../media/image6.png"/><Relationship Id="rId16" Type="http://schemas.openxmlformats.org/officeDocument/2006/relationships/tags" Target="../tags/tag11.xml"/><Relationship Id="rId15" Type="http://schemas.openxmlformats.org/officeDocument/2006/relationships/image" Target="../media/image5.png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image" Target="../media/image11.png"/><Relationship Id="rId4" Type="http://schemas.openxmlformats.org/officeDocument/2006/relationships/tags" Target="../tags/tag18.xml"/><Relationship Id="rId3" Type="http://schemas.openxmlformats.org/officeDocument/2006/relationships/image" Target="../media/image10.png"/><Relationship Id="rId2" Type="http://schemas.openxmlformats.org/officeDocument/2006/relationships/tags" Target="../tags/tag17.xml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image" Target="../media/image14.png"/><Relationship Id="rId6" Type="http://schemas.openxmlformats.org/officeDocument/2006/relationships/tags" Target="../tags/tag31.xml"/><Relationship Id="rId5" Type="http://schemas.openxmlformats.org/officeDocument/2006/relationships/image" Target="../media/image13.png"/><Relationship Id="rId4" Type="http://schemas.openxmlformats.org/officeDocument/2006/relationships/tags" Target="../tags/tag30.xml"/><Relationship Id="rId3" Type="http://schemas.openxmlformats.org/officeDocument/2006/relationships/image" Target="../media/image12.png"/><Relationship Id="rId21" Type="http://schemas.openxmlformats.org/officeDocument/2006/relationships/notesSlide" Target="../notesSlides/notesSlide7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29.xml"/><Relationship Id="rId19" Type="http://schemas.openxmlformats.org/officeDocument/2006/relationships/image" Target="../media/image17.png"/><Relationship Id="rId18" Type="http://schemas.openxmlformats.org/officeDocument/2006/relationships/tags" Target="../tags/tag40.xml"/><Relationship Id="rId17" Type="http://schemas.openxmlformats.org/officeDocument/2006/relationships/image" Target="../media/image16.png"/><Relationship Id="rId16" Type="http://schemas.openxmlformats.org/officeDocument/2006/relationships/tags" Target="../tags/tag39.xml"/><Relationship Id="rId15" Type="http://schemas.openxmlformats.org/officeDocument/2006/relationships/image" Target="../media/image15.png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.png"/><Relationship Id="rId7" Type="http://schemas.openxmlformats.org/officeDocument/2006/relationships/tags" Target="../tags/tag4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3.png"/><Relationship Id="rId2" Type="http://schemas.openxmlformats.org/officeDocument/2006/relationships/tags" Target="../tags/tag4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3.emf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image" Target="../media/image26.png"/><Relationship Id="rId4" Type="http://schemas.openxmlformats.org/officeDocument/2006/relationships/tags" Target="../tags/tag44.xml"/><Relationship Id="rId3" Type="http://schemas.openxmlformats.org/officeDocument/2006/relationships/image" Target="../media/image25.png"/><Relationship Id="rId2" Type="http://schemas.openxmlformats.org/officeDocument/2006/relationships/tags" Target="../tags/tag43.xml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00" y="1354925"/>
            <a:ext cx="116016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Active Reconfigurable Intelligent Surface:</a:t>
            </a:r>
            <a:endParaRPr lang="en-US" sz="4800" b="1" i="0" u="none" strike="noStrike" cap="none">
              <a:solidFill>
                <a:srgbClr val="1E293B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151505"/>
            <a:ext cx="11049000" cy="40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Fully-Connected or Sub-Connected?</a:t>
            </a:r>
            <a:endParaRPr lang="en-US" sz="1800" b="0" i="0" u="none" strike="noStrike" cap="none">
              <a:solidFill>
                <a:srgbClr val="475569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651250"/>
            <a:ext cx="11049000" cy="385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Based on the paper by Kunzan Liu, Zijian Zhang, Linglong Dai, et al. (Tsinghua University)</a:t>
            </a:r>
            <a:endParaRPr lang="en-US" sz="1350" b="0" i="0" u="none" strike="noStrike" cap="none">
              <a:solidFill>
                <a:srgbClr val="64748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130675"/>
            <a:ext cx="11049000" cy="36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Paper Review Presentation</a:t>
            </a:r>
            <a:endParaRPr lang="en-US" sz="1350" b="0" i="0" u="none" strike="noStrike" cap="none">
              <a:solidFill>
                <a:srgbClr val="64748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0" y="4677410"/>
            <a:ext cx="12063095" cy="118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Presenter: Hengrui Pei</a:t>
            </a: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Date: 12/12/2025</a:t>
            </a: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295275" y="2400300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Introduction &amp; Motivation</a:t>
            </a:r>
            <a:endParaRPr lang="en-US" sz="5400" b="1" i="0" u="none" strike="noStrike" cap="none">
              <a:solidFill>
                <a:srgbClr val="1E293B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5524500" y="3714750"/>
            <a:ext cx="1143000" cy="5715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286000" y="4057650"/>
            <a:ext cx="7620000" cy="67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From Passive Fading to Active Power Consumption</a:t>
            </a:r>
            <a:endParaRPr lang="en-US" sz="2100" b="0" i="0" u="none" strike="noStrike" cap="none">
              <a:solidFill>
                <a:srgbClr val="64748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157412"/>
            <a:ext cx="3429000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4381500" y="2157412"/>
            <a:ext cx="3429000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8191500" y="2157412"/>
            <a:ext cx="342900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>
            <p:custDataLst>
              <p:tags r:id="rId8"/>
            </p:custDataLst>
          </p:nvPr>
        </p:nvSpPr>
        <p:spPr>
          <a:xfrm>
            <a:off x="866775" y="3024187"/>
            <a:ext cx="135016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891B2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Passive RIS</a:t>
            </a:r>
            <a:endParaRPr lang="en-US" sz="1800" b="1" i="0" u="none" strike="noStrike" cap="none">
              <a:solidFill>
                <a:srgbClr val="0891B2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107" name="Google Shape;107;p15"/>
          <p:cNvSpPr txBox="1"/>
          <p:nvPr>
            <p:custDataLst>
              <p:tags r:id="rId9"/>
            </p:custDataLst>
          </p:nvPr>
        </p:nvSpPr>
        <p:spPr>
          <a:xfrm>
            <a:off x="866775" y="3500120"/>
            <a:ext cx="3133725" cy="217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Reconfigurable Intelligent Surface,is a new technology that can control how wireless signals propagate in the environment.  </a:t>
            </a:r>
            <a:r>
              <a:rPr lang="en-US" altLang="zh-CN" sz="1500" b="0" i="0" u="none" strike="noStrike" cap="none">
                <a:solidFill>
                  <a:srgbClr val="334155"/>
                </a:solidFill>
                <a:latin typeface="Lato" panose="020F0502020204030203"/>
                <a:ea typeface="SimSun" panose="02010600030101010101" pitchFamily="2" charset="-122"/>
                <a:cs typeface="Lato" panose="020F0502020204030203"/>
                <a:sym typeface="Lato" panose="020F0502020204030203"/>
              </a:rPr>
              <a:t>Passive RIS only reflects signals and suffers from multiplicative fading.</a:t>
            </a:r>
            <a:endParaRPr lang="en-US" altLang="zh-CN" sz="1500" b="0" i="0" u="none" strike="noStrike" cap="none">
              <a:solidFill>
                <a:srgbClr val="334155"/>
              </a:solidFill>
              <a:latin typeface="Lato" panose="020F0502020204030203"/>
              <a:ea typeface="SimSun" panose="02010600030101010101" pitchFamily="2" charset="-122"/>
              <a:cs typeface="Lato" panose="020F0502020204030203"/>
              <a:sym typeface="Lato" panose="020F0502020204030203"/>
            </a:endParaRPr>
          </a:p>
        </p:txBody>
      </p:sp>
      <p:sp>
        <p:nvSpPr>
          <p:cNvPr id="108" name="Google Shape;108;p15"/>
          <p:cNvSpPr txBox="1"/>
          <p:nvPr>
            <p:custDataLst>
              <p:tags r:id="rId10"/>
            </p:custDataLst>
          </p:nvPr>
        </p:nvSpPr>
        <p:spPr>
          <a:xfrm>
            <a:off x="4676775" y="3024187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891B2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Active RIS (Fully-Connected)</a:t>
            </a:r>
            <a:endParaRPr lang="en-US" sz="1800" b="1" i="0" u="none" strike="noStrike" cap="none">
              <a:solidFill>
                <a:srgbClr val="0891B2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109" name="Google Shape;109;p15"/>
          <p:cNvSpPr txBox="1"/>
          <p:nvPr>
            <p:custDataLst>
              <p:tags r:id="rId11"/>
            </p:custDataLst>
          </p:nvPr>
        </p:nvSpPr>
        <p:spPr>
          <a:xfrm>
            <a:off x="4676775" y="3833812"/>
            <a:ext cx="283845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Active RIS introduces amplifiers to enhance signal strength.</a:t>
            </a:r>
            <a:endParaRPr lang="en-US" altLang="zh-CN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0" name="Google Shape;110;p15"/>
          <p:cNvSpPr txBox="1"/>
          <p:nvPr>
            <p:custDataLst>
              <p:tags r:id="rId12"/>
            </p:custDataLst>
          </p:nvPr>
        </p:nvSpPr>
        <p:spPr>
          <a:xfrm>
            <a:off x="8486775" y="3024187"/>
            <a:ext cx="211026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891B2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The New Problem</a:t>
            </a:r>
            <a:endParaRPr lang="en-US" sz="1800" b="1" i="0" u="none" strike="noStrike" cap="none">
              <a:solidFill>
                <a:srgbClr val="0891B2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111" name="Google Shape;111;p15"/>
          <p:cNvSpPr txBox="1"/>
          <p:nvPr>
            <p:custDataLst>
              <p:tags r:id="rId13"/>
            </p:custDataLst>
          </p:nvPr>
        </p:nvSpPr>
        <p:spPr>
          <a:xfrm>
            <a:off x="8486775" y="3500437"/>
            <a:ext cx="2838450" cy="138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 fully-connected architecture consumes excessively high power, with static power consumption rivaling the base station itself.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12" name="Google Shape;112;p15" descr="image.png"/>
          <p:cNvPicPr preferRelativeResize="0"/>
          <p:nvPr>
            <p:custDataLst>
              <p:tags r:id="rId14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866775" y="247173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>
            <p:custDataLst>
              <p:tags r:id="rId16"/>
            </p:custDataLst>
          </p:nvPr>
        </p:nvPicPr>
        <p:blipFill rotWithShape="1">
          <a:blip r:embed="rId17"/>
          <a:srcRect/>
          <a:stretch>
            <a:fillRect/>
          </a:stretch>
        </p:blipFill>
        <p:spPr>
          <a:xfrm>
            <a:off x="4676775" y="247173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>
            <p:custDataLst>
              <p:tags r:id="rId18"/>
            </p:custDataLst>
          </p:nvPr>
        </p:nvPicPr>
        <p:blipFill rotWithShape="1">
          <a:blip r:embed="rId19"/>
          <a:srcRect/>
          <a:stretch>
            <a:fillRect/>
          </a:stretch>
        </p:blipFill>
        <p:spPr>
          <a:xfrm>
            <a:off x="8486775" y="247173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The Evolution of RIS Technology</a:t>
            </a:r>
            <a:endParaRPr lang="en-US" sz="3300" b="1" i="0" u="none" strike="noStrike" cap="none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178593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891B2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The Sub-Connected Architecture</a:t>
            </a:r>
            <a:endParaRPr lang="en-US" sz="2100" b="1" i="0" u="none" strike="noStrike" cap="none">
              <a:solidFill>
                <a:srgbClr val="0891B2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2185670"/>
            <a:ext cx="5286375" cy="1155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 this project, I adopt and investigate a sub-connected architecture, where multiple RIS elements (T) share one power amplifier, targeting energy-efficient system design.</a:t>
            </a:r>
            <a:endParaRPr lang="en-US" altLang="zh-CN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549910" y="4962525"/>
            <a:ext cx="5572125" cy="96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Key Hypothesis of This Project: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 </a:t>
            </a:r>
            <a:r>
              <a:rPr lang="en-US" altLang="zh-CN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 performance loss due to fewer DoFs is minor, while the energy efficiency gain is significant.</a:t>
            </a:r>
            <a:endParaRPr lang="en-US" altLang="zh-CN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5" name="Google Shape;125;p16"/>
          <p:cNvSpPr txBox="1"/>
          <p:nvPr>
            <p:custDataLst>
              <p:tags r:id="rId3"/>
            </p:custDataLst>
          </p:nvPr>
        </p:nvSpPr>
        <p:spPr>
          <a:xfrm>
            <a:off x="835660" y="3293427"/>
            <a:ext cx="5000625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Drastically reduces the number of amplifiers (from N to L=N/T), saving significant power.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6" name="Google Shape;126;p16"/>
          <p:cNvSpPr txBox="1"/>
          <p:nvPr>
            <p:custDataLst>
              <p:tags r:id="rId4"/>
            </p:custDataLst>
          </p:nvPr>
        </p:nvSpPr>
        <p:spPr>
          <a:xfrm>
            <a:off x="835660" y="4007485"/>
            <a:ext cx="5000625" cy="74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en-US" altLang="zh-CN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Beamforming has fewer controllable degrees of freedom (DoFs). 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(L</a:t>
            </a:r>
            <a:r>
              <a:rPr lang="en-US" altLang="zh-CN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oss in beamforming flexibility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)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8" name="Google Shape;128;p16"/>
          <p:cNvSpPr txBox="1"/>
          <p:nvPr>
            <p:custDataLst>
              <p:tags r:id="rId5"/>
            </p:custDataLst>
          </p:nvPr>
        </p:nvSpPr>
        <p:spPr>
          <a:xfrm>
            <a:off x="549910" y="3341052"/>
            <a:ext cx="1143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891B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■</a:t>
            </a:r>
            <a:endParaRPr lang="en-US" sz="1500" b="0" i="0" u="none" strike="noStrike" cap="none">
              <a:solidFill>
                <a:srgbClr val="0891B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9" name="Google Shape;129;p16"/>
          <p:cNvSpPr txBox="1"/>
          <p:nvPr>
            <p:custDataLst>
              <p:tags r:id="rId6"/>
            </p:custDataLst>
          </p:nvPr>
        </p:nvSpPr>
        <p:spPr>
          <a:xfrm>
            <a:off x="549910" y="4055427"/>
            <a:ext cx="114300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891B2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■</a:t>
            </a:r>
            <a:endParaRPr lang="en-US" sz="1500" b="0" i="0" u="none" strike="noStrike" cap="none">
              <a:solidFill>
                <a:srgbClr val="0891B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Proposed Solution: Sub-Connected Architecture</a:t>
            </a:r>
            <a:endParaRPr lang="en-US" sz="3300" b="1" i="0" u="none" strike="noStrike" cap="none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26810" y="2967355"/>
            <a:ext cx="5393690" cy="17887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71500" y="5930265"/>
            <a:ext cx="557212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</a:rPr>
              <a:t>This architecture is selected in this project specifically for energy-efficiency-oriented design.</a:t>
            </a:r>
            <a:endParaRPr lang="en-US" altLang="zh-CN" sz="1500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185987"/>
            <a:ext cx="5286375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6334125" y="2185987"/>
            <a:ext cx="5286375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custDataLst>
              <p:tags r:id="rId6"/>
            </p:custDataLst>
          </p:nvPr>
        </p:nvSpPr>
        <p:spPr>
          <a:xfrm>
            <a:off x="962025" y="2576512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891B2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Fully-Connected (Baseline)</a:t>
            </a:r>
            <a:endParaRPr lang="en-US" sz="1800" b="1" i="0" u="none" strike="noStrike" cap="none">
              <a:solidFill>
                <a:srgbClr val="0891B2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139" name="Google Shape;139;p17"/>
          <p:cNvSpPr/>
          <p:nvPr>
            <p:custDataLst>
              <p:tags r:id="rId7"/>
            </p:custDataLst>
          </p:nvPr>
        </p:nvSpPr>
        <p:spPr>
          <a:xfrm>
            <a:off x="962025" y="3005137"/>
            <a:ext cx="4505325" cy="1905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0" name="Google Shape;140;p17"/>
          <p:cNvSpPr txBox="1"/>
          <p:nvPr>
            <p:custDataLst>
              <p:tags r:id="rId8"/>
            </p:custDataLst>
          </p:nvPr>
        </p:nvSpPr>
        <p:spPr>
          <a:xfrm>
            <a:off x="962025" y="3166745"/>
            <a:ext cx="45053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Each element has a dedicated power amplifier (PA) and phase shifter (PS).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1" name="Google Shape;141;p17"/>
          <p:cNvSpPr txBox="1"/>
          <p:nvPr>
            <p:custDataLst>
              <p:tags r:id="rId9"/>
            </p:custDataLst>
          </p:nvPr>
        </p:nvSpPr>
        <p:spPr>
          <a:xfrm>
            <a:off x="962025" y="3881120"/>
            <a:ext cx="4505325" cy="38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Arial" panose="020B0604020202020204" pitchFamily="34" charset="0"/>
                <a:ea typeface="Courier New" panose="02070309020205020404"/>
                <a:cs typeface="Arial" panose="020B0604020202020204" pitchFamily="34" charset="0"/>
                <a:sym typeface="Courier New" panose="02070309020205020404"/>
              </a:rPr>
              <a:t>1 Element → 1 PA → 1 PS</a:t>
            </a:r>
            <a:endParaRPr lang="en-US" sz="1350" b="1" i="0" u="none" strike="noStrike" cap="none">
              <a:solidFill>
                <a:srgbClr val="334155"/>
              </a:solidFill>
              <a:latin typeface="Arial" panose="020B0604020202020204" pitchFamily="34" charset="0"/>
              <a:ea typeface="Courier New" panose="02070309020205020404"/>
              <a:cs typeface="Arial" panose="020B0604020202020204" pitchFamily="34" charset="0"/>
              <a:sym typeface="Courier New" panose="02070309020205020404"/>
            </a:endParaRPr>
          </a:p>
        </p:txBody>
      </p:sp>
      <p:sp>
        <p:nvSpPr>
          <p:cNvPr id="142" name="Google Shape;142;p17"/>
          <p:cNvSpPr txBox="1"/>
          <p:nvPr>
            <p:custDataLst>
              <p:tags r:id="rId10"/>
            </p:custDataLst>
          </p:nvPr>
        </p:nvSpPr>
        <p:spPr>
          <a:xfrm>
            <a:off x="962025" y="4281170"/>
            <a:ext cx="4630420" cy="113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Amplifiers (L):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L = 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Power: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High (N * W_PA)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DoFs: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High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3" name="Google Shape;143;p17"/>
          <p:cNvSpPr txBox="1"/>
          <p:nvPr>
            <p:custDataLst>
              <p:tags r:id="rId11"/>
            </p:custDataLst>
          </p:nvPr>
        </p:nvSpPr>
        <p:spPr>
          <a:xfrm>
            <a:off x="6724650" y="2576512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891B2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Sub-Connected (Proposed)</a:t>
            </a:r>
            <a:endParaRPr lang="en-US" sz="1800" b="1" i="0" u="none" strike="noStrike" cap="none">
              <a:solidFill>
                <a:srgbClr val="0891B2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144" name="Google Shape;144;p17"/>
          <p:cNvSpPr/>
          <p:nvPr>
            <p:custDataLst>
              <p:tags r:id="rId12"/>
            </p:custDataLst>
          </p:nvPr>
        </p:nvSpPr>
        <p:spPr>
          <a:xfrm>
            <a:off x="6724650" y="3005137"/>
            <a:ext cx="4505325" cy="1905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" name="Google Shape;145;p17"/>
          <p:cNvSpPr txBox="1"/>
          <p:nvPr>
            <p:custDataLst>
              <p:tags r:id="rId13"/>
            </p:custDataLst>
          </p:nvPr>
        </p:nvSpPr>
        <p:spPr>
          <a:xfrm>
            <a:off x="6724650" y="3166745"/>
            <a:ext cx="4505325" cy="715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 group of 'T' elements shares one PA. Each element retains its own PS(</a:t>
            </a:r>
            <a:r>
              <a:rPr lang="en-US" altLang="zh-CN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Phase Shifter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).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6" name="Google Shape;146;p17"/>
          <p:cNvSpPr txBox="1"/>
          <p:nvPr>
            <p:custDataLst>
              <p:tags r:id="rId14"/>
            </p:custDataLst>
          </p:nvPr>
        </p:nvSpPr>
        <p:spPr>
          <a:xfrm>
            <a:off x="6724650" y="3881120"/>
            <a:ext cx="4505325" cy="40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+mn-lt"/>
                <a:ea typeface="Courier New" panose="02070309020205020404"/>
                <a:cs typeface="+mn-lt"/>
                <a:sym typeface="Courier New" panose="02070309020205020404"/>
              </a:rPr>
              <a:t>1 PA → T Elements / T PS</a:t>
            </a:r>
            <a:endParaRPr lang="en-US" sz="1350" b="1" i="0" u="none" strike="noStrike" cap="none">
              <a:solidFill>
                <a:srgbClr val="334155"/>
              </a:solidFill>
              <a:latin typeface="+mn-lt"/>
              <a:ea typeface="Courier New" panose="02070309020205020404"/>
              <a:cs typeface="+mn-lt"/>
              <a:sym typeface="Courier New" panose="02070309020205020404"/>
            </a:endParaRPr>
          </a:p>
        </p:txBody>
      </p:sp>
      <p:sp>
        <p:nvSpPr>
          <p:cNvPr id="147" name="Google Shape;147;p17"/>
          <p:cNvSpPr txBox="1"/>
          <p:nvPr>
            <p:custDataLst>
              <p:tags r:id="rId15"/>
            </p:custDataLst>
          </p:nvPr>
        </p:nvSpPr>
        <p:spPr>
          <a:xfrm>
            <a:off x="6724650" y="4281487"/>
            <a:ext cx="4505325" cy="865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Amplifiers (L):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L = N / 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Power: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Low ((N/T) * W_PA)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DoFs: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Reduced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Architecture &amp; Power Model Comparison</a:t>
            </a:r>
            <a:endParaRPr lang="en-US" sz="3300" b="1" i="0" u="none" strike="noStrike" cap="none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5" name="Google Shape;135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71500" y="57150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00" b="1" i="0" u="none" strike="noStrike" cap="none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Innovation &amp; Contributions </a:t>
            </a:r>
            <a:endParaRPr lang="en-US" altLang="zh-CN" sz="3300" b="1" i="0" u="none" strike="noStrike" cap="none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2640" y="2519680"/>
            <a:ext cx="10602595" cy="313690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marL="285750" indent="-285750">
              <a:buFont typeface="Wingdings" panose="05000000000000000000" charset="0"/>
              <a:buChar char="ü"/>
            </a:pPr>
            <a:r>
              <a:rPr lang="en-US" altLang="zh-CN" sz="18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Lato" panose="020F0502020204030203"/>
                <a:ea typeface="Lato" panose="020F0502020204030203"/>
                <a:cs typeface="Lato" panose="020F0502020204030203"/>
              </a:rPr>
              <a:t>I focus on optimizing energy efficiency rather than only spectral efficiency.</a:t>
            </a:r>
            <a:endParaRPr lang="en-US" altLang="zh-CN" sz="1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ato" panose="020F0502020204030203"/>
              <a:ea typeface="Lato" panose="020F0502020204030203"/>
              <a:cs typeface="Lato" panose="020F0502020204030203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zh-CN" sz="1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ato" panose="020F0502020204030203"/>
              <a:ea typeface="Lato" panose="020F0502020204030203"/>
              <a:cs typeface="Lato" panose="020F0502020204030203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sz="18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Lato" panose="020F0502020204030203"/>
                <a:ea typeface="Lato" panose="020F0502020204030203"/>
                <a:cs typeface="Lato" panose="020F0502020204030203"/>
              </a:rPr>
              <a:t>A sub-connected active RIS is designed to reduce the number of power amplifiers from  N to N/T</a:t>
            </a:r>
            <a:endParaRPr lang="en-US" sz="1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ato" panose="020F0502020204030203"/>
              <a:ea typeface="Lato" panose="020F0502020204030203"/>
              <a:cs typeface="Lato" panose="020F0502020204030203"/>
            </a:endParaRPr>
          </a:p>
          <a:p>
            <a:pPr marL="285750" indent="-285750">
              <a:buFont typeface="Wingdings" panose="05000000000000000000" charset="0"/>
              <a:buChar char="ü"/>
            </a:pPr>
            <a:endParaRPr lang="en-US" sz="1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ato" panose="020F0502020204030203"/>
              <a:ea typeface="Lato" panose="020F0502020204030203"/>
              <a:cs typeface="Lato" panose="020F0502020204030203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sz="18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Lato" panose="020F0502020204030203"/>
                <a:ea typeface="Lato" panose="020F0502020204030203"/>
                <a:cs typeface="Lato" panose="020F0502020204030203"/>
              </a:rPr>
              <a:t>A joint EE optimization framework (Dinkelbach + alternating optimization) is developed.</a:t>
            </a:r>
            <a:endParaRPr lang="en-US" sz="1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ato" panose="020F0502020204030203"/>
              <a:ea typeface="Lato" panose="020F0502020204030203"/>
              <a:cs typeface="Lato" panose="020F0502020204030203"/>
            </a:endParaRPr>
          </a:p>
          <a:p>
            <a:pPr marL="285750" indent="-285750">
              <a:buFont typeface="Wingdings" panose="05000000000000000000" charset="0"/>
              <a:buChar char="ü"/>
            </a:pPr>
            <a:endParaRPr lang="en-US" sz="1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ato" panose="020F0502020204030203"/>
              <a:ea typeface="Lato" panose="020F0502020204030203"/>
              <a:cs typeface="Lato" panose="020F0502020204030203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sz="18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Lato" panose="020F0502020204030203"/>
                <a:ea typeface="Lato" panose="020F0502020204030203"/>
                <a:cs typeface="Lato" panose="020F0502020204030203"/>
              </a:rPr>
              <a:t>An independent SE–EE trade-off is verified (≈11% SE loss vs. ≈21% EE gain).</a:t>
            </a:r>
            <a:endParaRPr lang="en-US" sz="1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Lato" panose="020F0502020204030203"/>
              <a:ea typeface="Lato" panose="020F0502020204030203"/>
              <a:cs typeface="Lato" panose="020F050202020403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295275" y="2400300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Methodology</a:t>
            </a:r>
            <a:endParaRPr lang="en-US" sz="5400" b="1" i="0" u="none" strike="noStrike" cap="none">
              <a:solidFill>
                <a:srgbClr val="1E293B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524500" y="3714750"/>
            <a:ext cx="1143000" cy="5715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2286000" y="4057650"/>
            <a:ext cx="7620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Maximizing Energy Efficiency (EE) via Joint Beamforming</a:t>
            </a:r>
            <a:endParaRPr lang="en-US" sz="2100" b="0" i="0" u="none" strike="noStrike" cap="none">
              <a:solidFill>
                <a:srgbClr val="64748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300287"/>
            <a:ext cx="342900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4381500" y="2300287"/>
            <a:ext cx="342900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8191500" y="2300287"/>
            <a:ext cx="342900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>
            <p:custDataLst>
              <p:tags r:id="rId8"/>
            </p:custDataLst>
          </p:nvPr>
        </p:nvSpPr>
        <p:spPr>
          <a:xfrm>
            <a:off x="866775" y="3167062"/>
            <a:ext cx="15301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891B2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The Problem</a:t>
            </a:r>
            <a:endParaRPr lang="en-US" sz="1800" b="1" i="0" u="none" strike="noStrike" cap="none">
              <a:solidFill>
                <a:srgbClr val="0891B2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166" name="Google Shape;166;p19"/>
          <p:cNvSpPr txBox="1"/>
          <p:nvPr>
            <p:custDataLst>
              <p:tags r:id="rId9"/>
            </p:custDataLst>
          </p:nvPr>
        </p:nvSpPr>
        <p:spPr>
          <a:xfrm>
            <a:off x="866775" y="3643312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 goal is to maximize Energy Efficiency: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η = Rate / Power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. This is a complex non-convex fractional programming problem.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7" name="Google Shape;167;p19"/>
          <p:cNvSpPr txBox="1"/>
          <p:nvPr>
            <p:custDataLst>
              <p:tags r:id="rId10"/>
            </p:custDataLst>
          </p:nvPr>
        </p:nvSpPr>
        <p:spPr>
          <a:xfrm>
            <a:off x="4676775" y="3167062"/>
            <a:ext cx="286035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891B2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Dinkelbach's Algorithm</a:t>
            </a:r>
            <a:endParaRPr lang="en-US" sz="1800" b="1" i="0" u="none" strike="noStrike" cap="none">
              <a:solidFill>
                <a:srgbClr val="0891B2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168" name="Google Shape;168;p19"/>
          <p:cNvSpPr txBox="1"/>
          <p:nvPr>
            <p:custDataLst>
              <p:tags r:id="rId11"/>
            </p:custDataLst>
          </p:nvPr>
        </p:nvSpPr>
        <p:spPr>
          <a:xfrm>
            <a:off x="4676775" y="3643312"/>
            <a:ext cx="2838450" cy="138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 fractional problem  max(R/P)` is transformed into a subtractive form `max(R - η*P)` which can be solved iteratively.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9" name="Google Shape;169;p19"/>
          <p:cNvSpPr txBox="1"/>
          <p:nvPr>
            <p:custDataLst>
              <p:tags r:id="rId12"/>
            </p:custDataLst>
          </p:nvPr>
        </p:nvSpPr>
        <p:spPr>
          <a:xfrm>
            <a:off x="8486775" y="3167062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891B2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Alternating Optimization</a:t>
            </a:r>
            <a:endParaRPr lang="en-US" sz="1800" b="1" i="0" u="none" strike="noStrike" cap="none">
              <a:solidFill>
                <a:srgbClr val="0891B2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170" name="Google Shape;170;p19"/>
          <p:cNvSpPr txBox="1"/>
          <p:nvPr>
            <p:custDataLst>
              <p:tags r:id="rId13"/>
            </p:custDataLst>
          </p:nvPr>
        </p:nvSpPr>
        <p:spPr>
          <a:xfrm>
            <a:off x="8557260" y="3642995"/>
            <a:ext cx="2838450" cy="191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 problem is solved by optimizing each set of variables (W, Θ, a) one at a time, keeping the others fixed, until convergence.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71" name="Google Shape;171;p19" descr="image.png"/>
          <p:cNvPicPr preferRelativeResize="0"/>
          <p:nvPr>
            <p:custDataLst>
              <p:tags r:id="rId14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866775" y="2614612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>
            <p:custDataLst>
              <p:tags r:id="rId16"/>
            </p:custDataLst>
          </p:nvPr>
        </p:nvPicPr>
        <p:blipFill rotWithShape="1">
          <a:blip r:embed="rId17"/>
          <a:srcRect/>
          <a:stretch>
            <a:fillRect/>
          </a:stretch>
        </p:blipFill>
        <p:spPr>
          <a:xfrm>
            <a:off x="4676775" y="26146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>
            <p:custDataLst>
              <p:tags r:id="rId18"/>
            </p:custDataLst>
          </p:nvPr>
        </p:nvPicPr>
        <p:blipFill rotWithShape="1">
          <a:blip r:embed="rId19"/>
          <a:srcRect/>
          <a:stretch>
            <a:fillRect/>
          </a:stretch>
        </p:blipFill>
        <p:spPr>
          <a:xfrm>
            <a:off x="8486775" y="261461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Optimization Strategy</a:t>
            </a:r>
            <a:endParaRPr lang="en-US" sz="3300" b="1" i="0" u="none" strike="noStrike" cap="none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1" name="Google Shape;161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6480810" y="1161415"/>
            <a:ext cx="5253990" cy="52247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4;p19"/>
          <p:cNvSpPr txBox="1"/>
          <p:nvPr/>
        </p:nvSpPr>
        <p:spPr>
          <a:xfrm>
            <a:off x="873760" y="57150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00" b="1" i="0" u="none" strike="noStrike" cap="none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Fractional Programming with Dinkelbach</a:t>
            </a:r>
            <a:endParaRPr lang="en-US" altLang="zh-CN" sz="3300" b="1" i="0" u="none" strike="noStrike" cap="none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9460" y="1666240"/>
            <a:ext cx="481584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 b="1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</a:rPr>
              <a:t>Objective (difficult fractional form):</a:t>
            </a:r>
            <a:endParaRPr lang="en-US" altLang="zh-CN" sz="1800" b="1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02055" y="2260600"/>
            <a:ext cx="3295650" cy="10953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5640" y="3355975"/>
            <a:ext cx="4686935" cy="588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SzTx/>
            </a:pPr>
            <a:r>
              <a:rPr lang="en-US" altLang="zh-CN">
                <a:sym typeface="+mn-ea"/>
              </a:rPr>
              <a:t>  </a:t>
            </a:r>
            <a:r>
              <a:rPr lang="en-US" altLang="zh-CN" sz="1800" b="1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+mn-ea"/>
              </a:rPr>
              <a:t>Dinkelbach </a:t>
            </a:r>
            <a:r>
              <a:rPr lang="en-US" altLang="zh-CN" sz="1800" b="1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+mn-ea"/>
              </a:rPr>
              <a:t>transformation:</a:t>
            </a:r>
            <a:endParaRPr lang="en-US" altLang="zh-CN" sz="1800" b="1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4083685"/>
            <a:ext cx="3819525" cy="5905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6455" y="4970780"/>
            <a:ext cx="1466850" cy="11334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753225" y="1790065"/>
            <a:ext cx="4335145" cy="3767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</a:rPr>
              <a:t>Energy Efficiency (EE) = rate / power → fractional and non-convex</a:t>
            </a:r>
            <a:endParaRPr lang="en-US" altLang="zh-CN" sz="1800" b="1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800" b="1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</a:rPr>
              <a:t>Dinkelbach method converts fraction into subtracting form</a:t>
            </a:r>
            <a:endParaRPr lang="en-US" altLang="zh-CN" sz="1800" b="1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800" b="1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</a:rPr>
              <a:t>In each outer iteration, η is updated</a:t>
            </a:r>
            <a:endParaRPr lang="en-US" altLang="zh-CN" sz="1800" b="1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800" b="1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</a:rPr>
              <a:t>This turns a hard fractional program into a sequence of easier subproblems</a:t>
            </a:r>
            <a:endParaRPr lang="en-US" altLang="zh-CN" sz="1800" b="1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800" b="1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b="1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</a:rPr>
              <a:t>Guarantees convergence to optimal EE under mild conditions</a:t>
            </a:r>
            <a:endParaRPr lang="en-US" altLang="zh-CN" sz="1800" b="1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</p:txBody>
      </p:sp>
      <p:pic>
        <p:nvPicPr>
          <p:cNvPr id="172" name="Google Shape;172;p19" descr="image.png"/>
          <p:cNvPicPr preferRelativeResize="0"/>
          <p:nvPr>
            <p:custDataLst>
              <p:tags r:id="rId7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>
            <a:off x="7160260" y="1285557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1" name="Google Shape;161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1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6425" y="1203325"/>
            <a:ext cx="5149850" cy="5127625"/>
          </a:xfrm>
          <a:prstGeom prst="rect">
            <a:avLst/>
          </a:prstGeom>
        </p:spPr>
      </p:pic>
      <p:sp>
        <p:nvSpPr>
          <p:cNvPr id="7" name="Google Shape;174;p19"/>
          <p:cNvSpPr txBox="1"/>
          <p:nvPr/>
        </p:nvSpPr>
        <p:spPr>
          <a:xfrm>
            <a:off x="446405" y="37465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00" b="1" i="0" u="none" strike="noStrike" cap="none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Alternating Optimization</a:t>
            </a:r>
            <a:endParaRPr lang="en-US" altLang="zh-CN" sz="3300" b="1" i="0" u="none" strike="noStrike" cap="none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25235" y="1319530"/>
            <a:ext cx="5438140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SzTx/>
            </a:pPr>
            <a:r>
              <a:rPr lang="en-US" altLang="zh-CN" b="1">
                <a:solidFill>
                  <a:schemeClr val="tx1"/>
                </a:solidFill>
                <a:latin typeface="Poppins" panose="00000400000000000000"/>
                <a:ea typeface="Poppins" panose="00000400000000000000"/>
                <a:cs typeface="Poppins" panose="00000400000000000000"/>
              </a:rPr>
              <a:t>Begin by initializing all variables, including the BS beamforming matrix W, the RIS precoding Ψ</a:t>
            </a:r>
            <a:r>
              <a:rPr lang="zh-CN" altLang="en-US" b="1">
                <a:solidFill>
                  <a:schemeClr val="tx1"/>
                </a:solidFill>
                <a:latin typeface="Poppins" panose="00000400000000000000"/>
                <a:ea typeface="Poppins" panose="00000400000000000000"/>
                <a:cs typeface="Poppins" panose="00000400000000000000"/>
              </a:rPr>
              <a:t>赛</a:t>
            </a:r>
            <a:r>
              <a:rPr lang="en-US" altLang="zh-CN" b="1">
                <a:solidFill>
                  <a:schemeClr val="tx1"/>
                </a:solidFill>
                <a:latin typeface="Poppins" panose="00000400000000000000"/>
                <a:ea typeface="Poppins" panose="00000400000000000000"/>
                <a:cs typeface="Poppins" panose="00000400000000000000"/>
              </a:rPr>
              <a:t>, and the auxiliary variables μ and ν.</a:t>
            </a:r>
            <a:endParaRPr lang="en-US" altLang="zh-CN" b="1">
              <a:solidFill>
                <a:schemeClr val="tx1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  <a:p>
            <a:pPr algn="l">
              <a:buSzTx/>
            </a:pPr>
            <a:endParaRPr lang="en-US" altLang="zh-CN" b="1">
              <a:solidFill>
                <a:schemeClr val="tx1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  <a:p>
            <a:pPr algn="l">
              <a:buSzTx/>
            </a:pPr>
            <a:r>
              <a:rPr lang="en-US" altLang="zh-CN" b="1">
                <a:solidFill>
                  <a:schemeClr val="tx1"/>
                </a:solidFill>
                <a:highlight>
                  <a:srgbClr val="C0C0C0"/>
                </a:highlight>
                <a:latin typeface="Poppins" panose="00000400000000000000"/>
                <a:ea typeface="Poppins" panose="00000400000000000000"/>
                <a:cs typeface="Poppins" panose="00000400000000000000"/>
              </a:rPr>
              <a:t>Step 1:</a:t>
            </a:r>
            <a:r>
              <a:rPr lang="en-US" altLang="zh-CN" b="1">
                <a:solidFill>
                  <a:schemeClr val="tx1"/>
                </a:solidFill>
                <a:latin typeface="Poppins" panose="00000400000000000000"/>
                <a:ea typeface="Poppins" panose="00000400000000000000"/>
                <a:cs typeface="Poppins" panose="00000400000000000000"/>
              </a:rPr>
              <a:t> Update the auxiliary variables μ and ν using their closed-form expressions.</a:t>
            </a:r>
            <a:endParaRPr lang="en-US" altLang="zh-CN" b="1">
              <a:solidFill>
                <a:schemeClr val="tx1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  <a:p>
            <a:pPr algn="l">
              <a:buSzTx/>
            </a:pPr>
            <a:r>
              <a:rPr lang="en-US" altLang="zh-CN" b="1">
                <a:solidFill>
                  <a:schemeClr val="tx1"/>
                </a:solidFill>
                <a:latin typeface="Poppins" panose="00000400000000000000"/>
                <a:ea typeface="Poppins" panose="00000400000000000000"/>
                <a:cs typeface="Poppins" panose="00000400000000000000"/>
              </a:rPr>
              <a:t>These variables help reformulate the log-rate expression and make the objective easier to optimize.</a:t>
            </a:r>
            <a:endParaRPr lang="en-US" altLang="zh-CN" b="1">
              <a:solidFill>
                <a:schemeClr val="tx1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  <a:p>
            <a:pPr algn="l">
              <a:buSzTx/>
            </a:pPr>
            <a:endParaRPr lang="en-US" altLang="zh-CN" b="1">
              <a:solidFill>
                <a:schemeClr val="tx1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  <a:p>
            <a:pPr algn="l">
              <a:buSzTx/>
            </a:pPr>
            <a:r>
              <a:rPr lang="en-US" altLang="zh-CN" b="1">
                <a:solidFill>
                  <a:schemeClr val="tx1"/>
                </a:solidFill>
                <a:highlight>
                  <a:srgbClr val="C0C0C0"/>
                </a:highlight>
                <a:latin typeface="Poppins" panose="00000400000000000000"/>
                <a:ea typeface="Poppins" panose="00000400000000000000"/>
                <a:cs typeface="Poppins" panose="00000400000000000000"/>
              </a:rPr>
              <a:t>Step 2:</a:t>
            </a:r>
            <a:r>
              <a:rPr lang="en-US" altLang="zh-CN" b="1">
                <a:solidFill>
                  <a:schemeClr val="tx1"/>
                </a:solidFill>
                <a:latin typeface="Poppins" panose="00000400000000000000"/>
                <a:ea typeface="Poppins" panose="00000400000000000000"/>
                <a:cs typeface="Poppins" panose="00000400000000000000"/>
              </a:rPr>
              <a:t> With μ and ν fixed, update the BS beamforming matrix W by solving a QCQP sub-problem.</a:t>
            </a:r>
            <a:endParaRPr lang="en-US" altLang="zh-CN" b="1">
              <a:solidFill>
                <a:schemeClr val="tx1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  <a:p>
            <a:pPr algn="l">
              <a:buSzTx/>
            </a:pPr>
            <a:endParaRPr lang="en-US" altLang="zh-CN" b="1">
              <a:solidFill>
                <a:schemeClr val="tx1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  <a:p>
            <a:pPr algn="l">
              <a:buSzTx/>
            </a:pPr>
            <a:r>
              <a:rPr lang="en-US" altLang="zh-CN" b="1">
                <a:solidFill>
                  <a:schemeClr val="tx1"/>
                </a:solidFill>
                <a:highlight>
                  <a:srgbClr val="C0C0C0"/>
                </a:highlight>
                <a:latin typeface="Poppins" panose="00000400000000000000"/>
                <a:ea typeface="Poppins" panose="00000400000000000000"/>
                <a:cs typeface="Poppins" panose="00000400000000000000"/>
              </a:rPr>
              <a:t>Step 3:</a:t>
            </a:r>
            <a:r>
              <a:rPr lang="en-US" altLang="zh-CN" b="1">
                <a:solidFill>
                  <a:schemeClr val="tx1"/>
                </a:solidFill>
                <a:latin typeface="Poppins" panose="00000400000000000000"/>
                <a:ea typeface="Poppins" panose="00000400000000000000"/>
                <a:cs typeface="Poppins" panose="00000400000000000000"/>
              </a:rPr>
              <a:t> With W fixed, update the RIS precoding Ψ, which includes computing both the phase-shift vector Θ and the amplification vector </a:t>
            </a:r>
            <a:r>
              <a:rPr lang="en-US" altLang="zh-CN" b="1">
                <a:solidFill>
                  <a:schemeClr val="tx1"/>
                </a:solidFill>
                <a:latin typeface="Poppins" panose="00000400000000000000"/>
                <a:ea typeface="Poppins" panose="00000400000000000000"/>
                <a:cs typeface="Poppins" panose="00000400000000000000"/>
              </a:rPr>
              <a:t>a using closed-form solutions.</a:t>
            </a:r>
            <a:endParaRPr lang="en-US" altLang="zh-CN" b="1">
              <a:solidFill>
                <a:schemeClr val="tx1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  <a:p>
            <a:pPr algn="l">
              <a:buSzTx/>
            </a:pPr>
            <a:endParaRPr lang="en-US" altLang="zh-CN" b="1">
              <a:solidFill>
                <a:schemeClr val="tx1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  <a:p>
            <a:pPr algn="l">
              <a:buSzTx/>
            </a:pPr>
            <a:r>
              <a:rPr lang="en-US" altLang="zh-CN" b="1">
                <a:solidFill>
                  <a:schemeClr val="tx1"/>
                </a:solidFill>
                <a:latin typeface="Poppins" panose="00000400000000000000"/>
                <a:ea typeface="Poppins" panose="00000400000000000000"/>
                <a:cs typeface="Poppins" panose="00000400000000000000"/>
              </a:rPr>
              <a:t>After the three updates, check</a:t>
            </a:r>
            <a:r>
              <a:rPr lang="en-US" altLang="zh-CN" b="1">
                <a:solidFill>
                  <a:schemeClr val="tx1"/>
                </a:solidFill>
                <a:latin typeface="Poppins" panose="00000400000000000000"/>
                <a:ea typeface="Poppins" panose="00000400000000000000"/>
                <a:cs typeface="Poppins" panose="00000400000000000000"/>
              </a:rPr>
              <a:t>ing the convergence criteria based on the change in energy efficiency.</a:t>
            </a:r>
            <a:endParaRPr lang="en-US" altLang="zh-CN" b="1">
              <a:solidFill>
                <a:schemeClr val="tx1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  <a:p>
            <a:pPr algn="l">
              <a:buSzTx/>
            </a:pPr>
            <a:endParaRPr lang="en-US" altLang="zh-CN" b="1">
              <a:solidFill>
                <a:schemeClr val="tx1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  <a:p>
            <a:pPr algn="l">
              <a:buSzTx/>
            </a:pPr>
            <a:r>
              <a:rPr lang="en-US" altLang="zh-CN" b="1">
                <a:solidFill>
                  <a:schemeClr val="tx1"/>
                </a:solidFill>
                <a:latin typeface="Poppins" panose="00000400000000000000"/>
                <a:ea typeface="Poppins" panose="00000400000000000000"/>
                <a:cs typeface="Poppins" panose="00000400000000000000"/>
              </a:rPr>
              <a:t>If the objective has not converged, the algorithm repeats the steps above; otherwise, it outputs the optimal energy efficiency.</a:t>
            </a:r>
            <a:endParaRPr lang="en-US" altLang="zh-CN" b="1">
              <a:solidFill>
                <a:schemeClr val="tx1"/>
              </a:solidFill>
              <a:latin typeface="Poppins" panose="00000400000000000000"/>
              <a:ea typeface="Poppins" panose="00000400000000000000"/>
              <a:cs typeface="Poppins" panose="000004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295275" y="2400300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Simulation Results</a:t>
            </a:r>
            <a:endParaRPr lang="en-US" sz="5400" b="1" i="0" u="none" strike="noStrike" cap="none">
              <a:solidFill>
                <a:srgbClr val="1E293B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524500" y="3714750"/>
            <a:ext cx="1143000" cy="5715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286000" y="4057650"/>
            <a:ext cx="7620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Validating the Sub-Connected Architecture</a:t>
            </a:r>
            <a:endParaRPr lang="en-US" sz="2100" b="0" i="0" u="none" strike="noStrike" cap="none">
              <a:solidFill>
                <a:srgbClr val="64748B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7" name="Google Shape;187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571500" y="57150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Simulation Results</a:t>
            </a:r>
            <a:endParaRPr lang="en-US" sz="3300" b="1" i="0" u="none" strike="noStrike" cap="none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pic>
        <p:nvPicPr>
          <p:cNvPr id="750876265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56960" y="1778635"/>
            <a:ext cx="4824095" cy="3620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75" y="1778635"/>
            <a:ext cx="5402580" cy="38182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157412"/>
            <a:ext cx="5286375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6334125" y="2157412"/>
            <a:ext cx="5286375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>
            <p:custDataLst>
              <p:tags r:id="rId6"/>
            </p:custDataLst>
          </p:nvPr>
        </p:nvSpPr>
        <p:spPr>
          <a:xfrm>
            <a:off x="962025" y="2547937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891B2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Spectral Efficiency (SE)</a:t>
            </a:r>
            <a:endParaRPr lang="en-US" sz="1800" b="1" i="0" u="none" strike="noStrike" cap="none">
              <a:solidFill>
                <a:srgbClr val="0891B2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191" name="Google Shape;191;p21"/>
          <p:cNvSpPr/>
          <p:nvPr>
            <p:custDataLst>
              <p:tags r:id="rId7"/>
            </p:custDataLst>
          </p:nvPr>
        </p:nvSpPr>
        <p:spPr>
          <a:xfrm>
            <a:off x="962025" y="2976562"/>
            <a:ext cx="4505325" cy="1905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2" name="Google Shape;192;p21"/>
          <p:cNvSpPr txBox="1"/>
          <p:nvPr>
            <p:custDataLst>
              <p:tags r:id="rId8"/>
            </p:custDataLst>
          </p:nvPr>
        </p:nvSpPr>
        <p:spPr>
          <a:xfrm>
            <a:off x="962025" y="3138487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DC2626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~11% Loss</a:t>
            </a:r>
            <a:endParaRPr lang="en-US" sz="5400" b="1" i="0" u="none" strike="noStrike" cap="none">
              <a:solidFill>
                <a:srgbClr val="DC2626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193" name="Google Shape;193;p21"/>
          <p:cNvSpPr txBox="1"/>
          <p:nvPr>
            <p:custDataLst>
              <p:tags r:id="rId9"/>
            </p:custDataLst>
          </p:nvPr>
        </p:nvSpPr>
        <p:spPr>
          <a:xfrm>
            <a:off x="815975" y="4371975"/>
            <a:ext cx="4797425" cy="112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 sub-connected architecture has about an 11% lower data rate than the fully-connected one due to fewer DoFs.</a:t>
            </a:r>
            <a:endParaRPr lang="en-US" altLang="zh-CN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94" name="Google Shape;194;p21"/>
          <p:cNvSpPr txBox="1"/>
          <p:nvPr>
            <p:custDataLst>
              <p:tags r:id="rId10"/>
            </p:custDataLst>
          </p:nvPr>
        </p:nvSpPr>
        <p:spPr>
          <a:xfrm>
            <a:off x="6724650" y="2547937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891B2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Energy Efficiency (EE)</a:t>
            </a:r>
            <a:endParaRPr lang="en-US" sz="1800" b="1" i="0" u="none" strike="noStrike" cap="none">
              <a:solidFill>
                <a:srgbClr val="0891B2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195" name="Google Shape;195;p21"/>
          <p:cNvSpPr/>
          <p:nvPr>
            <p:custDataLst>
              <p:tags r:id="rId11"/>
            </p:custDataLst>
          </p:nvPr>
        </p:nvSpPr>
        <p:spPr>
          <a:xfrm>
            <a:off x="6724650" y="2976562"/>
            <a:ext cx="4505325" cy="1905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6" name="Google Shape;196;p21"/>
          <p:cNvSpPr txBox="1"/>
          <p:nvPr>
            <p:custDataLst>
              <p:tags r:id="rId12"/>
            </p:custDataLst>
          </p:nvPr>
        </p:nvSpPr>
        <p:spPr>
          <a:xfrm>
            <a:off x="6724650" y="3138487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6A34A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~22% Gain</a:t>
            </a:r>
            <a:endParaRPr lang="en-US" sz="5400" b="1" i="0" u="none" strike="noStrike" cap="none">
              <a:solidFill>
                <a:srgbClr val="16A34A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  <p:sp>
        <p:nvSpPr>
          <p:cNvPr id="197" name="Google Shape;197;p21"/>
          <p:cNvSpPr txBox="1"/>
          <p:nvPr>
            <p:custDataLst>
              <p:tags r:id="rId13"/>
            </p:custDataLst>
          </p:nvPr>
        </p:nvSpPr>
        <p:spPr>
          <a:xfrm>
            <a:off x="6949440" y="4372610"/>
            <a:ext cx="4505960" cy="126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 this project, this slight SE loss is traded for a significant 22% increase in energy efficiency, validating the proposed design.</a:t>
            </a:r>
            <a:endParaRPr lang="en-US" altLang="zh-CN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The Key Trade-Off (T=16 vs. T=1)</a:t>
            </a:r>
            <a:endParaRPr lang="en-US" sz="3300" b="1" i="0" u="none" strike="noStrike" cap="none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571500" y="5339080"/>
            <a:ext cx="11132185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Energy Efficiency increases as more elements (T) share a single amplifier. In this setup, T=256 (one amp for all elements) was the most efficient.</a:t>
            </a:r>
            <a:endParaRPr lang="en-US" sz="1500" b="0" i="1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Impact of Group Size (T) on Energy Efficiency</a:t>
            </a:r>
            <a:endParaRPr lang="en-US" sz="3300" b="1" i="0" u="none" strike="noStrike" cap="none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2286000" y="2112010"/>
            <a:ext cx="8096250" cy="8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Proposed: </a:t>
            </a:r>
            <a:r>
              <a:rPr lang="en-US" altLang="zh-CN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 this project, I study a novel sub-connected architecture for active RIS to address the high power consumption problem.</a:t>
            </a:r>
            <a:endParaRPr lang="en-US" altLang="zh-CN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2286000" y="3020695"/>
            <a:ext cx="80962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Mechanism: </a:t>
            </a:r>
            <a:r>
              <a:rPr lang="en-US" altLang="zh-CN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Power is saved by sharing one amplifier among 'T' elements, at the cost of reduced beamforming DoFs.</a:t>
            </a:r>
            <a:endParaRPr lang="en-US" altLang="zh-CN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2286000" y="3928745"/>
            <a:ext cx="8096250" cy="859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Results: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r>
              <a:rPr lang="en-US" altLang="zh-CN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Through independent simulation, about 22% higher EE is achieved with only about 11% SE loss.</a:t>
            </a:r>
            <a:endParaRPr lang="en-US" altLang="zh-CN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2286000" y="4837430"/>
            <a:ext cx="8096250" cy="875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Conclusion: </a:t>
            </a:r>
            <a:r>
              <a:rPr lang="en-US" altLang="zh-CN" sz="16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This project demonstrates that the sub-connected architecture is a practical and energy-efficient realization of active RIS.</a:t>
            </a:r>
            <a:endParaRPr lang="en-US" altLang="zh-CN" sz="16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216" name="Google Shape;216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809750" y="2159793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809750" y="306824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809750" y="3976687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809750" y="4885134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Conclusion</a:t>
            </a:r>
            <a:endParaRPr lang="en-US" sz="3300" b="1" i="0" u="none" strike="noStrike" cap="none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4"/>
          <p:cNvSpPr txBox="1"/>
          <p:nvPr/>
        </p:nvSpPr>
        <p:spPr>
          <a:xfrm>
            <a:off x="295275" y="2654300"/>
            <a:ext cx="11601450" cy="223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0E7490"/>
                </a:solidFill>
                <a:latin typeface="Poppins" panose="00000400000000000000"/>
                <a:ea typeface="Poppins" panose="00000400000000000000"/>
                <a:cs typeface="Poppins" panose="00000400000000000000"/>
                <a:sym typeface="Poppins" panose="00000400000000000000"/>
              </a:rPr>
              <a:t>Thank you !</a:t>
            </a:r>
            <a:endParaRPr lang="en-US" sz="8000" b="1" i="0" u="none" strike="noStrike" cap="none">
              <a:solidFill>
                <a:srgbClr val="0E7490"/>
              </a:solidFill>
              <a:latin typeface="Poppins" panose="00000400000000000000"/>
              <a:ea typeface="Poppins" panose="00000400000000000000"/>
              <a:cs typeface="Poppins" panose="00000400000000000000"/>
              <a:sym typeface="Poppins" panose="0000040000000000000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2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3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4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5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6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7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8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9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10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11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12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13.xml><?xml version="1.0" encoding="utf-8"?>
<p:tagLst xmlns:p="http://schemas.openxmlformats.org/presentationml/2006/main">
  <p:tag name="KSO_WM_DIAGRAM_VIRTUALLY_FRAME" val="{&quot;height&quot;:115.17503937007874,&quot;left&quot;:43.3,&quot;top&quot;:259.3249606299213,&quot;width&quot;:416.25}"/>
</p:tagLst>
</file>

<file path=ppt/tags/tag14.xml><?xml version="1.0" encoding="utf-8"?>
<p:tagLst xmlns:p="http://schemas.openxmlformats.org/presentationml/2006/main">
  <p:tag name="KSO_WM_DIAGRAM_VIRTUALLY_FRAME" val="{&quot;height&quot;:115.17503937007874,&quot;left&quot;:43.3,&quot;top&quot;:259.3249606299213,&quot;width&quot;:416.25}"/>
</p:tagLst>
</file>

<file path=ppt/tags/tag15.xml><?xml version="1.0" encoding="utf-8"?>
<p:tagLst xmlns:p="http://schemas.openxmlformats.org/presentationml/2006/main">
  <p:tag name="KSO_WM_DIAGRAM_VIRTUALLY_FRAME" val="{&quot;height&quot;:115.17503937007874,&quot;left&quot;:43.3,&quot;top&quot;:259.3249606299213,&quot;width&quot;:416.25}"/>
</p:tagLst>
</file>

<file path=ppt/tags/tag16.xml><?xml version="1.0" encoding="utf-8"?>
<p:tagLst xmlns:p="http://schemas.openxmlformats.org/presentationml/2006/main">
  <p:tag name="KSO_WM_DIAGRAM_VIRTUALLY_FRAME" val="{&quot;height&quot;:115.17503937007874,&quot;left&quot;:43.3,&quot;top&quot;:259.3249606299213,&quot;width&quot;:416.25}"/>
</p:tagLst>
</file>

<file path=ppt/tags/tag17.xml><?xml version="1.0" encoding="utf-8"?>
<p:tagLst xmlns:p="http://schemas.openxmlformats.org/presentationml/2006/main">
  <p:tag name="KSO_WM_DIAGRAM_VIRTUALLY_FRAME" val="{&quot;height&quot;:274.5,&quot;left&quot;:45,&quot;top&quot;:172.12496062992125,&quot;width&quot;:870}"/>
  <p:tag name="KSO_WM_UNIT_INDEX" val="3"/>
  <p:tag name="KSO_WM_UNIT_TYPE" val="j"/>
  <p:tag name="KSO_WM_BEAUTIFY_FLAG" val="#wm#"/>
</p:tagLst>
</file>

<file path=ppt/tags/tag18.xml><?xml version="1.0" encoding="utf-8"?>
<p:tagLst xmlns:p="http://schemas.openxmlformats.org/presentationml/2006/main">
  <p:tag name="KSO_WM_DIAGRAM_VIRTUALLY_FRAME" val="{&quot;height&quot;:274.5,&quot;left&quot;:45,&quot;top&quot;:172.12496062992125,&quot;width&quot;:870}"/>
  <p:tag name="KSO_WM_UNIT_INDEX" val="4"/>
  <p:tag name="KSO_WM_UNIT_TYPE" val="j"/>
  <p:tag name="KSO_WM_BEAUTIFY_FLAG" val="#wm#"/>
</p:tagLst>
</file>

<file path=ppt/tags/tag19.xml><?xml version="1.0" encoding="utf-8"?>
<p:tagLst xmlns:p="http://schemas.openxmlformats.org/presentationml/2006/main">
  <p:tag name="KSO_WM_DIAGRAM_VIRTUALLY_FRAME" val="{&quot;height&quot;:274.5,&quot;left&quot;:45,&quot;top&quot;:172.12496062992125,&quot;width&quot;:870}"/>
  <p:tag name="KSO_WM_UNIT_INDEX" val="5"/>
  <p:tag name="KSO_WM_UNIT_TYPE" val="f"/>
  <p:tag name="KSO_WM_UNIT_SUBTYPE" val="a"/>
  <p:tag name="KSO_WM_BEAUTIFY_FLAG" val="#wm#"/>
</p:tagLst>
</file>

<file path=ppt/tags/tag20.xml><?xml version="1.0" encoding="utf-8"?>
<p:tagLst xmlns:p="http://schemas.openxmlformats.org/presentationml/2006/main">
  <p:tag name="KSO_WM_DIAGRAM_VIRTUALLY_FRAME" val="{&quot;height&quot;:274.5,&quot;left&quot;:45,&quot;top&quot;:172.12496062992125,&quot;width&quot;:870}"/>
  <p:tag name="KSO_WM_UNIT_INDEX" val="7"/>
  <p:tag name="KSO_WM_UNIT_TYPE" val="i"/>
  <p:tag name="KSO_WM_BEAUTIFY_FLAG" val="#wm#"/>
</p:tagLst>
</file>

<file path=ppt/tags/tag21.xml><?xml version="1.0" encoding="utf-8"?>
<p:tagLst xmlns:p="http://schemas.openxmlformats.org/presentationml/2006/main">
  <p:tag name="KSO_WM_DIAGRAM_VIRTUALLY_FRAME" val="{&quot;height&quot;:274.5,&quot;left&quot;:45,&quot;top&quot;:172.12496062992125,&quot;width&quot;:870}"/>
  <p:tag name="KSO_WM_UNIT_INDEX" val="9"/>
  <p:tag name="KSO_WM_UNIT_TYPE" val="f"/>
  <p:tag name="KSO_WM_UNIT_SUBTYPE" val="a"/>
  <p:tag name="KSO_WM_BEAUTIFY_FLAG" val="#wm#"/>
</p:tagLst>
</file>

<file path=ppt/tags/tag22.xml><?xml version="1.0" encoding="utf-8"?>
<p:tagLst xmlns:p="http://schemas.openxmlformats.org/presentationml/2006/main">
  <p:tag name="KSO_WM_DIAGRAM_VIRTUALLY_FRAME" val="{&quot;height&quot;:274.5,&quot;left&quot;:45,&quot;top&quot;:172.12496062992125,&quot;width&quot;:870}"/>
  <p:tag name="KSO_WM_UNIT_INDEX" val="11"/>
  <p:tag name="KSO_WM_UNIT_TYPE" val="f"/>
  <p:tag name="KSO_WM_UNIT_SUBTYPE" val="a"/>
  <p:tag name="KSO_WM_BEAUTIFY_FLAG" val="#wm#"/>
</p:tagLst>
</file>

<file path=ppt/tags/tag23.xml><?xml version="1.0" encoding="utf-8"?>
<p:tagLst xmlns:p="http://schemas.openxmlformats.org/presentationml/2006/main">
  <p:tag name="KSO_WM_DIAGRAM_VIRTUALLY_FRAME" val="{&quot;height&quot;:274.5,&quot;left&quot;:45,&quot;top&quot;:172.12496062992125,&quot;width&quot;:870}"/>
  <p:tag name="KSO_WM_UNIT_INDEX" val="13"/>
  <p:tag name="KSO_WM_UNIT_TYPE" val="f"/>
  <p:tag name="KSO_WM_UNIT_SUBTYPE" val="a"/>
  <p:tag name="KSO_WM_BEAUTIFY_FLAG" val="#wm#"/>
</p:tagLst>
</file>

<file path=ppt/tags/tag24.xml><?xml version="1.0" encoding="utf-8"?>
<p:tagLst xmlns:p="http://schemas.openxmlformats.org/presentationml/2006/main">
  <p:tag name="KSO_WM_DIAGRAM_VIRTUALLY_FRAME" val="{&quot;height&quot;:274.5,&quot;left&quot;:45,&quot;top&quot;:172.12496062992125,&quot;width&quot;:870}"/>
  <p:tag name="KSO_WM_UNIT_INDEX" val="6"/>
  <p:tag name="KSO_WM_UNIT_TYPE" val="f"/>
  <p:tag name="KSO_WM_UNIT_SUBTYPE" val="a"/>
  <p:tag name="KSO_WM_BEAUTIFY_FLAG" val="#wm#"/>
</p:tagLst>
</file>

<file path=ppt/tags/tag25.xml><?xml version="1.0" encoding="utf-8"?>
<p:tagLst xmlns:p="http://schemas.openxmlformats.org/presentationml/2006/main">
  <p:tag name="KSO_WM_DIAGRAM_VIRTUALLY_FRAME" val="{&quot;height&quot;:274.5,&quot;left&quot;:45,&quot;top&quot;:172.12496062992125,&quot;width&quot;:870}"/>
  <p:tag name="KSO_WM_UNIT_INDEX" val="8"/>
  <p:tag name="KSO_WM_UNIT_TYPE" val="i"/>
  <p:tag name="KSO_WM_BEAUTIFY_FLAG" val="#wm#"/>
</p:tagLst>
</file>

<file path=ppt/tags/tag26.xml><?xml version="1.0" encoding="utf-8"?>
<p:tagLst xmlns:p="http://schemas.openxmlformats.org/presentationml/2006/main">
  <p:tag name="KSO_WM_DIAGRAM_VIRTUALLY_FRAME" val="{&quot;height&quot;:274.5,&quot;left&quot;:45,&quot;top&quot;:172.12496062992125,&quot;width&quot;:870}"/>
  <p:tag name="KSO_WM_UNIT_INDEX" val="10"/>
  <p:tag name="KSO_WM_UNIT_TYPE" val="f"/>
  <p:tag name="KSO_WM_UNIT_SUBTYPE" val="a"/>
  <p:tag name="KSO_WM_BEAUTIFY_FLAG" val="#wm#"/>
</p:tagLst>
</file>

<file path=ppt/tags/tag27.xml><?xml version="1.0" encoding="utf-8"?>
<p:tagLst xmlns:p="http://schemas.openxmlformats.org/presentationml/2006/main">
  <p:tag name="KSO_WM_DIAGRAM_VIRTUALLY_FRAME" val="{&quot;height&quot;:274.5,&quot;left&quot;:45,&quot;top&quot;:172.12496062992125,&quot;width&quot;:870}"/>
  <p:tag name="KSO_WM_UNIT_INDEX" val="12"/>
  <p:tag name="KSO_WM_UNIT_TYPE" val="f"/>
  <p:tag name="KSO_WM_UNIT_SUBTYPE" val="a"/>
  <p:tag name="KSO_WM_BEAUTIFY_FLAG" val="#wm#"/>
</p:tagLst>
</file>

<file path=ppt/tags/tag28.xml><?xml version="1.0" encoding="utf-8"?>
<p:tagLst xmlns:p="http://schemas.openxmlformats.org/presentationml/2006/main">
  <p:tag name="KSO_WM_DIAGRAM_VIRTUALLY_FRAME" val="{&quot;height&quot;:274.5,&quot;left&quot;:45,&quot;top&quot;:172.12496062992125,&quot;width&quot;:870}"/>
  <p:tag name="KSO_WM_UNIT_INDEX" val="14"/>
  <p:tag name="KSO_WM_UNIT_TYPE" val="f"/>
  <p:tag name="KSO_WM_UNIT_SUBTYPE" val="a"/>
  <p:tag name="KSO_WM_BEAUTIFY_FLAG" val="#wm#"/>
</p:tagLst>
</file>

<file path=ppt/tags/tag29.xml><?xml version="1.0" encoding="utf-8"?>
<p:tagLst xmlns:p="http://schemas.openxmlformats.org/presentationml/2006/main">
  <p:tag name="KSO_WM_DIAGRAM_VIRTUALLY_FRAME" val="{&quot;height&quot;:256.5,&quot;left&quot;:45,&quot;top&quot;:181.12496062992125,&quot;width&quot;:870}"/>
</p:tagLst>
</file>

<file path=ppt/tags/tag30.xml><?xml version="1.0" encoding="utf-8"?>
<p:tagLst xmlns:p="http://schemas.openxmlformats.org/presentationml/2006/main">
  <p:tag name="KSO_WM_DIAGRAM_VIRTUALLY_FRAME" val="{&quot;height&quot;:256.5,&quot;left&quot;:45,&quot;top&quot;:181.12496062992125,&quot;width&quot;:870}"/>
</p:tagLst>
</file>

<file path=ppt/tags/tag31.xml><?xml version="1.0" encoding="utf-8"?>
<p:tagLst xmlns:p="http://schemas.openxmlformats.org/presentationml/2006/main">
  <p:tag name="KSO_WM_DIAGRAM_VIRTUALLY_FRAME" val="{&quot;height&quot;:256.5,&quot;left&quot;:45,&quot;top&quot;:181.12496062992125,&quot;width&quot;:870}"/>
</p:tagLst>
</file>

<file path=ppt/tags/tag32.xml><?xml version="1.0" encoding="utf-8"?>
<p:tagLst xmlns:p="http://schemas.openxmlformats.org/presentationml/2006/main">
  <p:tag name="KSO_WM_DIAGRAM_VIRTUALLY_FRAME" val="{&quot;height&quot;:256.5,&quot;left&quot;:45,&quot;top&quot;:181.12496062992125,&quot;width&quot;:870}"/>
</p:tagLst>
</file>

<file path=ppt/tags/tag33.xml><?xml version="1.0" encoding="utf-8"?>
<p:tagLst xmlns:p="http://schemas.openxmlformats.org/presentationml/2006/main">
  <p:tag name="KSO_WM_DIAGRAM_VIRTUALLY_FRAME" val="{&quot;height&quot;:256.5,&quot;left&quot;:45,&quot;top&quot;:181.12496062992125,&quot;width&quot;:870}"/>
</p:tagLst>
</file>

<file path=ppt/tags/tag34.xml><?xml version="1.0" encoding="utf-8"?>
<p:tagLst xmlns:p="http://schemas.openxmlformats.org/presentationml/2006/main">
  <p:tag name="KSO_WM_DIAGRAM_VIRTUALLY_FRAME" val="{&quot;height&quot;:256.5,&quot;left&quot;:45,&quot;top&quot;:181.12496062992125,&quot;width&quot;:870}"/>
</p:tagLst>
</file>

<file path=ppt/tags/tag35.xml><?xml version="1.0" encoding="utf-8"?>
<p:tagLst xmlns:p="http://schemas.openxmlformats.org/presentationml/2006/main">
  <p:tag name="KSO_WM_DIAGRAM_VIRTUALLY_FRAME" val="{&quot;height&quot;:256.5,&quot;left&quot;:45,&quot;top&quot;:181.12496062992125,&quot;width&quot;:870}"/>
</p:tagLst>
</file>

<file path=ppt/tags/tag36.xml><?xml version="1.0" encoding="utf-8"?>
<p:tagLst xmlns:p="http://schemas.openxmlformats.org/presentationml/2006/main">
  <p:tag name="KSO_WM_DIAGRAM_VIRTUALLY_FRAME" val="{&quot;height&quot;:256.5,&quot;left&quot;:45,&quot;top&quot;:181.12496062992125,&quot;width&quot;:870}"/>
</p:tagLst>
</file>

<file path=ppt/tags/tag37.xml><?xml version="1.0" encoding="utf-8"?>
<p:tagLst xmlns:p="http://schemas.openxmlformats.org/presentationml/2006/main">
  <p:tag name="KSO_WM_DIAGRAM_VIRTUALLY_FRAME" val="{&quot;height&quot;:256.5,&quot;left&quot;:45,&quot;top&quot;:181.12496062992125,&quot;width&quot;:870}"/>
</p:tagLst>
</file>

<file path=ppt/tags/tag38.xml><?xml version="1.0" encoding="utf-8"?>
<p:tagLst xmlns:p="http://schemas.openxmlformats.org/presentationml/2006/main">
  <p:tag name="KSO_WM_DIAGRAM_VIRTUALLY_FRAME" val="{&quot;height&quot;:256.5,&quot;left&quot;:45,&quot;top&quot;:181.12496062992125,&quot;width&quot;:870}"/>
</p:tagLst>
</file>

<file path=ppt/tags/tag39.xml><?xml version="1.0" encoding="utf-8"?>
<p:tagLst xmlns:p="http://schemas.openxmlformats.org/presentationml/2006/main">
  <p:tag name="KSO_WM_DIAGRAM_VIRTUALLY_FRAME" val="{&quot;height&quot;:256.5,&quot;left&quot;:45,&quot;top&quot;:181.12496062992125,&quot;width&quot;:870}"/>
</p:tagLst>
</file>

<file path=ppt/tags/tag40.xml><?xml version="1.0" encoding="utf-8"?>
<p:tagLst xmlns:p="http://schemas.openxmlformats.org/presentationml/2006/main">
  <p:tag name="KSO_WM_DIAGRAM_VIRTUALLY_FRAME" val="{&quot;height&quot;:256.5,&quot;left&quot;:45,&quot;top&quot;:181.12496062992125,&quot;width&quot;:870}"/>
</p:tagLst>
</file>

<file path=ppt/tags/tag41.xml><?xml version="1.0" encoding="utf-8"?>
<p:tagLst xmlns:p="http://schemas.openxmlformats.org/presentationml/2006/main">
  <p:tag name="KSO_WM_DIAGRAM_VIRTUALLY_FRAME" val="{&quot;height&quot;:256.5,&quot;left&quot;:45,&quot;top&quot;:181.12496062992125,&quot;width&quot;:870}"/>
</p:tagLst>
</file>

<file path=ppt/tags/tag42.xml><?xml version="1.0" encoding="utf-8"?>
<p:tagLst xmlns:p="http://schemas.openxmlformats.org/presentationml/2006/main">
  <p:tag name="KSO_WM_DIAGRAM_VIRTUALLY_FRAME" val="{&quot;height&quot;:256.5,&quot;left&quot;:45,&quot;top&quot;:181.12496062992125,&quot;width&quot;:870}"/>
</p:tagLst>
</file>

<file path=ppt/tags/tag43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44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45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46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47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48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49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50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51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ags/tag52.xml><?xml version="1.0" encoding="utf-8"?>
<p:tagLst xmlns:p="http://schemas.openxmlformats.org/presentationml/2006/main">
  <p:tag name="KSO_WM_DIAGRAM_VIRTUALLY_FRAME" val="{&quot;height&quot;:279,&quot;left&quot;:45,&quot;top&quot;:169.87496062992125,&quot;width&quot;:870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5051</Words>
  <Application>WPS 演示</Application>
  <PresentationFormat/>
  <Paragraphs>161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Poppins</vt:lpstr>
      <vt:lpstr>Lato</vt:lpstr>
      <vt:lpstr>Courier New</vt:lpstr>
      <vt:lpstr>Wingdings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Екатерина</cp:lastModifiedBy>
  <cp:revision>10</cp:revision>
  <dcterms:created xsi:type="dcterms:W3CDTF">2025-12-01T20:36:00Z</dcterms:created>
  <dcterms:modified xsi:type="dcterms:W3CDTF">2025-12-12T15:44:35Z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0FE9CC152A5044C5916F320A2AB0027D_13</vt:lpwstr>
  </property>
  <property fmtid="{D5CDD505-2E9C-101B-9397-08002B2CF9AE}" pid="3" name="KSOProductBuildVer">
    <vt:lpwstr>2052-12.1.0.24034</vt:lpwstr>
  </property>
</Properties>
</file>